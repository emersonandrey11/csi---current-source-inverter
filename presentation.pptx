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27" r:id="rId3"/>
    <p:sldId id="258" r:id="rId4"/>
    <p:sldId id="329" r:id="rId5"/>
    <p:sldId id="330" r:id="rId6"/>
    <p:sldId id="322" r:id="rId7"/>
    <p:sldId id="324" r:id="rId8"/>
    <p:sldId id="270" r:id="rId9"/>
    <p:sldId id="320" r:id="rId10"/>
    <p:sldId id="271" r:id="rId11"/>
    <p:sldId id="314" r:id="rId12"/>
    <p:sldId id="333" r:id="rId13"/>
    <p:sldId id="331" r:id="rId14"/>
    <p:sldId id="332" r:id="rId15"/>
    <p:sldId id="29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41" r:id="rId24"/>
    <p:sldId id="295" r:id="rId2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17">
          <p15:clr>
            <a:srgbClr val="A4A3A4"/>
          </p15:clr>
        </p15:guide>
        <p15:guide id="2" pos="65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jqFTZYs/h3VwMLWudTwsBeBo6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1E4DE9-BBFD-422E-86CC-7AAC9843CDAF}">
  <a:tblStyle styleId="{251E4DE9-BBFD-422E-86CC-7AAC9843CD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45" autoAdjust="0"/>
  </p:normalViewPr>
  <p:slideViewPr>
    <p:cSldViewPr snapToGrid="0">
      <p:cViewPr>
        <p:scale>
          <a:sx n="100" d="100"/>
          <a:sy n="100" d="100"/>
        </p:scale>
        <p:origin x="946" y="-806"/>
      </p:cViewPr>
      <p:guideLst>
        <p:guide orient="horz" pos="1117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8BF40ADC-007F-3FD6-1189-E697012A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42CCBBF-3FFB-1F92-1BD5-7AE0728B6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Pontos chaves</a:t>
            </a: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0060A136-5B9F-93AB-FB2C-891386646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772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Pontos chaves</a:t>
            </a:r>
            <a:endParaRPr dirty="0"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EEA32B14-7FCF-C8A4-1B2E-90710B59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116BDCAE-E8C8-E559-3F91-7FCAF6D6A1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Pontos chaves</a:t>
            </a: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71AE945-3492-18B4-4772-4D142E0B9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058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1F43987D-2721-F707-66FA-26F29A152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1A87366-7C47-4DC4-84FB-77528F50E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Pontos chaves</a:t>
            </a: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01AF436-BC6D-0629-FC9E-74D78D26C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9554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B5931CD6-0B36-1ABC-C0D1-488A1564E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81904EF8-F16D-17BA-C56B-5A34067D1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Graphik"/>
              </a:rPr>
              <a:t>1. In Brazil, for example, electric car sales exceeded 30 000 across the first three months of 2025, 40% more than during the same period in 2024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Graphik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b="1" i="0" dirty="0">
                <a:solidFill>
                  <a:srgbClr val="000000"/>
                </a:solidFill>
                <a:effectLst/>
                <a:latin typeface="Graphik"/>
              </a:rPr>
              <a:t>2. Electric car sales are expected to exceed 20 million in 2025, representing one-quarter of total car sales</a:t>
            </a:r>
            <a:endParaRPr lang="pt-BR" dirty="0"/>
          </a:p>
          <a:p>
            <a:endParaRPr lang="pt-BR"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E9F8CCF-904D-7A21-7CFA-9BB7E73C9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529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71DFDE8A-05F4-4E98-9962-8E03201C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4472633B-6353-0164-638F-2F5C83E26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Pontos chaves</a:t>
            </a: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D8746F0-2C06-9F18-FF84-F8D740970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119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5b1de937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d5b1de937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F5B12744-9DF7-A316-47F8-1D97887D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5b1de9373_0_22:notes">
            <a:extLst>
              <a:ext uri="{FF2B5EF4-FFF2-40B4-BE49-F238E27FC236}">
                <a16:creationId xmlns:a16="http://schemas.microsoft.com/office/drawing/2014/main" id="{D2F19080-87EC-90AC-AE8D-F24EBD70C2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d5b1de9373_0_22:notes">
            <a:extLst>
              <a:ext uri="{FF2B5EF4-FFF2-40B4-BE49-F238E27FC236}">
                <a16:creationId xmlns:a16="http://schemas.microsoft.com/office/drawing/2014/main" id="{1043B4B1-3245-AF70-2584-5D227EC61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2504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098EB3A3-79F7-6E9D-BF38-42D00B3B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>
            <a:extLst>
              <a:ext uri="{FF2B5EF4-FFF2-40B4-BE49-F238E27FC236}">
                <a16:creationId xmlns:a16="http://schemas.microsoft.com/office/drawing/2014/main" id="{F3824FBC-654A-5F1A-7BAB-6BC7E2496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:notes">
            <a:extLst>
              <a:ext uri="{FF2B5EF4-FFF2-40B4-BE49-F238E27FC236}">
                <a16:creationId xmlns:a16="http://schemas.microsoft.com/office/drawing/2014/main" id="{3AA57F26-D0EF-44AE-DC61-FC25BA643F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2844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>
          <a:extLst>
            <a:ext uri="{FF2B5EF4-FFF2-40B4-BE49-F238E27FC236}">
              <a16:creationId xmlns:a16="http://schemas.microsoft.com/office/drawing/2014/main" id="{0FEE6A6D-F6BC-517D-9271-109258F3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>
            <a:extLst>
              <a:ext uri="{FF2B5EF4-FFF2-40B4-BE49-F238E27FC236}">
                <a16:creationId xmlns:a16="http://schemas.microsoft.com/office/drawing/2014/main" id="{D2D1A310-2C95-E229-EC79-F7EBFDE0F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:notes">
            <a:extLst>
              <a:ext uri="{FF2B5EF4-FFF2-40B4-BE49-F238E27FC236}">
                <a16:creationId xmlns:a16="http://schemas.microsoft.com/office/drawing/2014/main" id="{BDFFEA31-A384-C691-1028-7C4273F04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5451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9F8EB72-A3CC-2536-4215-BD994113B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CFD708C8-C15C-3B24-A6BF-71CF1F30D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CDE32682-167C-A686-C735-3EBA63F6B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348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BEF9390-1F0C-6616-F61E-DE21ED2B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17B85826-18F5-83FE-2DE7-7F28C1453A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0337EB9A-35E1-DB99-E12D-C9EBB0D77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1229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74BBA7E6-4D08-332D-4F44-BBC91FCD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726DFC84-3DA7-BBC3-B630-095F6C585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08FA97A5-7703-B918-16B9-5340EDA5B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7622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130F2707-9A68-76FB-42DA-AE4D64A7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554A79B1-2D65-D479-F5A0-226DAA7D2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84CC412B-1144-626F-3E2F-97C47824D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9529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6576DCF8-E341-FE92-65FF-BE3D7862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D9574B18-89DD-7E40-0E2F-A9F797199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3C0E28D1-167F-525D-BFC4-7A473FC92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1472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FD284BE-B895-4EFA-1AFF-A862EC3F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C4D475E0-489F-2F83-5BAD-C4B993CC3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534553E8-98F2-461E-353D-602974681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4648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71D2745A-A0E7-2BD7-C9A1-87E5BF7F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147C3A42-E285-1FF3-DB11-8210FAABA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96CE5C58-4076-185B-A154-CE2FD8A93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9686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4AF51C78-7978-33D6-1EA1-68A40FD3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4A58CB61-7CA5-D5DF-D8D1-9758546DB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51BE9C88-74D2-F351-F51A-CAADEEF7A7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04067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37D7B20C-D8B6-DF77-8B26-9544E6C2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9B335687-57BA-5869-8775-C1B435987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A1C0BA56-E2F8-7AA5-25C5-D0DB59B3B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8357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>
          <a:extLst>
            <a:ext uri="{FF2B5EF4-FFF2-40B4-BE49-F238E27FC236}">
              <a16:creationId xmlns:a16="http://schemas.microsoft.com/office/drawing/2014/main" id="{98ED0FDF-064E-CC1A-6795-884A44E1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>
            <a:extLst>
              <a:ext uri="{FF2B5EF4-FFF2-40B4-BE49-F238E27FC236}">
                <a16:creationId xmlns:a16="http://schemas.microsoft.com/office/drawing/2014/main" id="{C409A934-74FF-93DA-B26A-DA7B7AF752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dirty="0" err="1"/>
              <a:t>GaN</a:t>
            </a:r>
            <a:r>
              <a:rPr lang="pt-BR" dirty="0"/>
              <a:t> de 60 A é o que possui menor </a:t>
            </a:r>
            <a:r>
              <a:rPr lang="pt-BR" dirty="0" err="1"/>
              <a:t>Rds,on</a:t>
            </a:r>
            <a:r>
              <a:rPr lang="pt-BR" dirty="0"/>
              <a:t> porém o que apresenta a melhor eficiência é o </a:t>
            </a:r>
            <a:r>
              <a:rPr lang="pt-BR" dirty="0" err="1"/>
              <a:t>GaN</a:t>
            </a:r>
            <a:r>
              <a:rPr lang="pt-BR" dirty="0"/>
              <a:t> de 30 A</a:t>
            </a:r>
            <a:endParaRPr dirty="0"/>
          </a:p>
        </p:txBody>
      </p:sp>
      <p:sp>
        <p:nvSpPr>
          <p:cNvPr id="274" name="Google Shape;274;p8:notes">
            <a:extLst>
              <a:ext uri="{FF2B5EF4-FFF2-40B4-BE49-F238E27FC236}">
                <a16:creationId xmlns:a16="http://schemas.microsoft.com/office/drawing/2014/main" id="{E3C116CD-B556-73B8-DC6E-121DA813C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143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7006" y="5708679"/>
            <a:ext cx="2195698" cy="74886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788024" y="4149080"/>
            <a:ext cx="4061481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Emerson A. da Conceição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Sergio V. G. Oliveira</a:t>
            </a:r>
            <a:endParaRPr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02/07/2025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3558540" y="1635414"/>
            <a:ext cx="59816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pt-BR" sz="24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Estudo de inversores do tipo fonte de corrente para acionamentos elétricos integrados</a:t>
            </a:r>
            <a:endParaRPr dirty="0"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t="23653"/>
          <a:stretch/>
        </p:blipFill>
        <p:spPr>
          <a:xfrm rot="10800000" flipH="1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t="92210"/>
          <a:stretch/>
        </p:blipFill>
        <p:spPr>
          <a:xfrm flipH="1">
            <a:off x="3779912" y="0"/>
            <a:ext cx="5904657" cy="90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1449E9B-9F72-E92F-3D75-C63C0C7E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D78510A-8EA9-A2E5-FC43-7FCA50FEE2C7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Método de Estudo - OCAR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DA24101-461F-8127-8B4F-0C6128C40708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>
            <a:extLst>
              <a:ext uri="{FF2B5EF4-FFF2-40B4-BE49-F238E27FC236}">
                <a16:creationId xmlns:a16="http://schemas.microsoft.com/office/drawing/2014/main" id="{22A23508-2BF8-6421-2922-56D28CDB47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DDB03B3-7ED8-E020-BBD7-93173DB4CD8F}"/>
              </a:ext>
            </a:extLst>
          </p:cNvPr>
          <p:cNvSpPr txBox="1"/>
          <p:nvPr/>
        </p:nvSpPr>
        <p:spPr>
          <a:xfrm>
            <a:off x="672611" y="2101362"/>
            <a:ext cx="77987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Qual o problema principal abordado neste estudo dirigido?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Por que ele é importante?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O que este estudo dirigido propõe como solução?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/>
          </a:p>
          <a:p>
            <a:r>
              <a:rPr lang="pt-BR" sz="1600" dirty="0"/>
              <a:t>É um estudo com base em </a:t>
            </a:r>
            <a:r>
              <a:rPr lang="pt-BR" sz="1600" i="1" dirty="0"/>
              <a:t>review</a:t>
            </a:r>
            <a:r>
              <a:rPr lang="pt-BR" sz="1600" dirty="0"/>
              <a:t> da literatura servindo como revisão bibliográfica para estudos posteriores.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271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Panorama atual do mundo</a:t>
            </a:r>
            <a:endParaRPr dirty="0"/>
          </a:p>
        </p:txBody>
      </p:sp>
      <p:sp>
        <p:nvSpPr>
          <p:cNvPr id="110" name="Google Shape;110;p3"/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2800509" y="1877207"/>
            <a:ext cx="3501300" cy="35013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3"/>
          <p:cNvGrpSpPr/>
          <p:nvPr/>
        </p:nvGrpSpPr>
        <p:grpSpPr>
          <a:xfrm>
            <a:off x="3152875" y="1479481"/>
            <a:ext cx="2922900" cy="2166000"/>
            <a:chOff x="3296450" y="414352"/>
            <a:chExt cx="2922900" cy="2166000"/>
          </a:xfrm>
        </p:grpSpPr>
        <p:sp>
          <p:nvSpPr>
            <p:cNvPr id="114" name="Google Shape;114;p3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7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3296450" y="557459"/>
              <a:ext cx="2922900" cy="133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4418683" y="3097993"/>
            <a:ext cx="2166000" cy="2166000"/>
          </a:xfrm>
          <a:prstGeom prst="ellipse">
            <a:avLst/>
          </a:prstGeom>
          <a:solidFill>
            <a:srgbClr val="B02B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2559301" y="3097994"/>
            <a:ext cx="2166000" cy="2166000"/>
          </a:xfrm>
          <a:prstGeom prst="ellipse">
            <a:avLst/>
          </a:prstGeom>
          <a:solidFill>
            <a:srgbClr val="801F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3941105" y="3011370"/>
            <a:ext cx="1225800" cy="12258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6101" y="3811588"/>
            <a:ext cx="881400" cy="8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0502" y="3811585"/>
            <a:ext cx="881400" cy="8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0727" y="3234585"/>
            <a:ext cx="786550" cy="7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4425" y="1776737"/>
            <a:ext cx="1024000" cy="10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5F3380A2-95F0-CD1A-06F3-59F3B1A2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41A3D76-8A4E-89BF-CFD2-CA84D94F14D8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Problema principal 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5504B134-4FE6-5445-CC4A-FE865CFA2991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>
            <a:extLst>
              <a:ext uri="{FF2B5EF4-FFF2-40B4-BE49-F238E27FC236}">
                <a16:creationId xmlns:a16="http://schemas.microsoft.com/office/drawing/2014/main" id="{942A4F2C-169A-670B-B0F8-425C6F211A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 descr="Uma imagem contendo no interior, pequeno, mesa, deitado&#10;&#10;O conteúdo gerado por IA pode estar incorreto.">
            <a:extLst>
              <a:ext uri="{FF2B5EF4-FFF2-40B4-BE49-F238E27FC236}">
                <a16:creationId xmlns:a16="http://schemas.microsoft.com/office/drawing/2014/main" id="{38B982D4-A49D-2752-DBBB-DE3BAA6DC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903" y="3071417"/>
            <a:ext cx="6132634" cy="345306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2A656D9-1EBA-1486-945B-6B7FB269E442}"/>
              </a:ext>
            </a:extLst>
          </p:cNvPr>
          <p:cNvSpPr txBox="1"/>
          <p:nvPr/>
        </p:nvSpPr>
        <p:spPr>
          <a:xfrm>
            <a:off x="287015" y="1212150"/>
            <a:ext cx="6878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50"/>
                </a:solidFill>
              </a:rPr>
              <a:t>Acionamentos elétricos integrados e suas implicações</a:t>
            </a:r>
          </a:p>
        </p:txBody>
      </p:sp>
      <p:pic>
        <p:nvPicPr>
          <p:cNvPr id="11" name="Imagem 10" descr="Ícone&#10;&#10;O conteúdo gerado por IA pode estar incorreto.">
            <a:extLst>
              <a:ext uri="{FF2B5EF4-FFF2-40B4-BE49-F238E27FC236}">
                <a16:creationId xmlns:a16="http://schemas.microsoft.com/office/drawing/2014/main" id="{1359048B-4DC8-9BCE-2A93-F6D79D29D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67" y="2154299"/>
            <a:ext cx="691970" cy="691970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EE7F3918-D82C-535D-9F74-E62F46E34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61" y="3112477"/>
            <a:ext cx="691972" cy="69197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49F28E-2808-D42E-B5A0-654AB44D06B2}"/>
              </a:ext>
            </a:extLst>
          </p:cNvPr>
          <p:cNvSpPr txBox="1"/>
          <p:nvPr/>
        </p:nvSpPr>
        <p:spPr>
          <a:xfrm>
            <a:off x="1248508" y="2315618"/>
            <a:ext cx="407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Compatibilidade eletromagnética.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0E9B21F-1B36-537E-9B15-6396A093C991}"/>
              </a:ext>
            </a:extLst>
          </p:cNvPr>
          <p:cNvSpPr txBox="1"/>
          <p:nvPr/>
        </p:nvSpPr>
        <p:spPr>
          <a:xfrm>
            <a:off x="1248507" y="3284534"/>
            <a:ext cx="407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Temperatura de operação.</a:t>
            </a:r>
          </a:p>
        </p:txBody>
      </p:sp>
      <p:pic>
        <p:nvPicPr>
          <p:cNvPr id="17" name="Imagem 16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8DFA0D7-FCF6-4E87-7A2D-DEDDADB57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581" y="4070657"/>
            <a:ext cx="802742" cy="80274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EFEB81-24E2-A058-B238-C067B8D2DC87}"/>
              </a:ext>
            </a:extLst>
          </p:cNvPr>
          <p:cNvSpPr txBox="1"/>
          <p:nvPr/>
        </p:nvSpPr>
        <p:spPr>
          <a:xfrm>
            <a:off x="7560376" y="6242828"/>
            <a:ext cx="1445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ABB, 2025.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15E8E63-4893-309B-3D9F-C88F88732AA9}"/>
              </a:ext>
            </a:extLst>
          </p:cNvPr>
          <p:cNvSpPr txBox="1"/>
          <p:nvPr/>
        </p:nvSpPr>
        <p:spPr>
          <a:xfrm>
            <a:off x="1306977" y="4287362"/>
            <a:ext cx="4079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Desgaste do motor.</a:t>
            </a:r>
          </a:p>
        </p:txBody>
      </p:sp>
    </p:spTree>
    <p:extLst>
      <p:ext uri="{BB962C8B-B14F-4D97-AF65-F5344CB8AC3E}">
        <p14:creationId xmlns:p14="http://schemas.microsoft.com/office/powerpoint/2010/main" val="290961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A7A6BAE-E9F7-2932-F426-E01941FE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36AAF1FB-5DC4-50E0-48CC-13D8EE80F879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Grau de importância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95458F89-E33A-5E4B-DA34-A8937ED94357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>
            <a:extLst>
              <a:ext uri="{FF2B5EF4-FFF2-40B4-BE49-F238E27FC236}">
                <a16:creationId xmlns:a16="http://schemas.microsoft.com/office/drawing/2014/main" id="{20047401-E433-C898-55D4-3A4119FBA0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020A004-54C1-6A3B-E80F-E1454E5468F8}"/>
              </a:ext>
            </a:extLst>
          </p:cNvPr>
          <p:cNvSpPr txBox="1"/>
          <p:nvPr/>
        </p:nvSpPr>
        <p:spPr>
          <a:xfrm>
            <a:off x="287015" y="1212150"/>
            <a:ext cx="6878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00B050"/>
                </a:solidFill>
              </a:rPr>
              <a:t>Consumo, meio ambiente e tendências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B6FDC4-8B3B-CEFA-F9AA-C1D888F31256}"/>
              </a:ext>
            </a:extLst>
          </p:cNvPr>
          <p:cNvSpPr txBox="1"/>
          <p:nvPr/>
        </p:nvSpPr>
        <p:spPr>
          <a:xfrm>
            <a:off x="2630621" y="2722328"/>
            <a:ext cx="3076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40% da energia elétrica global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8A40829-DC80-7912-2AB5-CB35D1117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454" y="594524"/>
            <a:ext cx="2943648" cy="163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2869252E-90E5-14C6-49A5-98B378853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596" y="3616724"/>
            <a:ext cx="997056" cy="997056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26A3A896-74C5-A57A-0C5F-1037140C7B31}"/>
              </a:ext>
            </a:extLst>
          </p:cNvPr>
          <p:cNvSpPr txBox="1"/>
          <p:nvPr/>
        </p:nvSpPr>
        <p:spPr>
          <a:xfrm>
            <a:off x="2630621" y="3945975"/>
            <a:ext cx="5809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Mudanças climática e escassez de recursos naturais</a:t>
            </a:r>
          </a:p>
        </p:txBody>
      </p:sp>
      <p:pic>
        <p:nvPicPr>
          <p:cNvPr id="22" name="Imagem 21" descr="Ícone&#10;&#10;O conteúdo gerado por IA pode estar incorreto.">
            <a:extLst>
              <a:ext uri="{FF2B5EF4-FFF2-40B4-BE49-F238E27FC236}">
                <a16:creationId xmlns:a16="http://schemas.microsoft.com/office/drawing/2014/main" id="{3EC24CBA-EF07-D094-E490-6F6DAB021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73" y="2412775"/>
            <a:ext cx="828502" cy="828502"/>
          </a:xfrm>
          <a:prstGeom prst="rect">
            <a:avLst/>
          </a:prstGeom>
        </p:spPr>
      </p:pic>
      <p:pic>
        <p:nvPicPr>
          <p:cNvPr id="24" name="Imagem 23" descr="Ícone&#10;&#10;O conteúdo gerado por IA pode estar incorreto.">
            <a:extLst>
              <a:ext uri="{FF2B5EF4-FFF2-40B4-BE49-F238E27FC236}">
                <a16:creationId xmlns:a16="http://schemas.microsoft.com/office/drawing/2014/main" id="{DF2BF86F-A6E7-2E66-10C4-62FBD3A1FD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27" y="5074257"/>
            <a:ext cx="846594" cy="846594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5B7B6D-D891-85EE-9600-DF8395F9F62C}"/>
              </a:ext>
            </a:extLst>
          </p:cNvPr>
          <p:cNvSpPr txBox="1"/>
          <p:nvPr/>
        </p:nvSpPr>
        <p:spPr>
          <a:xfrm>
            <a:off x="2630620" y="5205166"/>
            <a:ext cx="5809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Acionamentos integrados, novas topologias de conversores e emprego de dispositivos </a:t>
            </a:r>
            <a:r>
              <a:rPr lang="pt-BR" sz="1600" i="1" dirty="0" err="1"/>
              <a:t>Wide</a:t>
            </a:r>
            <a:r>
              <a:rPr lang="pt-BR" sz="1600" i="1" dirty="0"/>
              <a:t> Band-Gap (WBG).</a:t>
            </a:r>
            <a:endParaRPr lang="pt-BR" sz="16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26D5DA6-ECC0-BBBA-1774-1B128AAE0885}"/>
              </a:ext>
            </a:extLst>
          </p:cNvPr>
          <p:cNvSpPr txBox="1"/>
          <p:nvPr/>
        </p:nvSpPr>
        <p:spPr>
          <a:xfrm>
            <a:off x="7165731" y="6263476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IEA, 2011</a:t>
            </a:r>
          </a:p>
        </p:txBody>
      </p:sp>
    </p:spTree>
    <p:extLst>
      <p:ext uri="{BB962C8B-B14F-4D97-AF65-F5344CB8AC3E}">
        <p14:creationId xmlns:p14="http://schemas.microsoft.com/office/powerpoint/2010/main" val="250426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ECF37CA0-1C93-69AC-C9E9-91D29CA5F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134C3E9A-8FCB-6F51-DFBF-8A82F4F23736}"/>
              </a:ext>
            </a:extLst>
          </p:cNvPr>
          <p:cNvSpPr txBox="1"/>
          <p:nvPr/>
        </p:nvSpPr>
        <p:spPr>
          <a:xfrm>
            <a:off x="393548" y="333523"/>
            <a:ext cx="76777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Vendas de carros elétricos no mundo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62DE870F-64FD-0A23-8AFA-AA3F1E2260D5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>
            <a:extLst>
              <a:ext uri="{FF2B5EF4-FFF2-40B4-BE49-F238E27FC236}">
                <a16:creationId xmlns:a16="http://schemas.microsoft.com/office/drawing/2014/main" id="{1DA5C290-6486-60F6-8A9F-7FA132157A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ED14BA1-04D0-BA72-F3B9-0D7F2610D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317" y="1085704"/>
            <a:ext cx="5829002" cy="48575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401830-8A41-E8A2-6D27-1EDA4EC3D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15" y="5943206"/>
            <a:ext cx="8552872" cy="32418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386E7B-1CDA-D05A-B8C4-278F39063C74}"/>
              </a:ext>
            </a:extLst>
          </p:cNvPr>
          <p:cNvSpPr txBox="1"/>
          <p:nvPr/>
        </p:nvSpPr>
        <p:spPr>
          <a:xfrm>
            <a:off x="7185660" y="6461760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IEA, 2025</a:t>
            </a:r>
          </a:p>
        </p:txBody>
      </p:sp>
    </p:spTree>
    <p:extLst>
      <p:ext uri="{BB962C8B-B14F-4D97-AF65-F5344CB8AC3E}">
        <p14:creationId xmlns:p14="http://schemas.microsoft.com/office/powerpoint/2010/main" val="304839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52DB1F6-1454-7D4C-5992-0B411689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0542EAA-11A6-A466-8DA5-9751280F499C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AEI e sua relação com o mercado</a:t>
            </a:r>
            <a:endParaRPr dirty="0"/>
          </a:p>
        </p:txBody>
      </p:sp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06E9EA6-E03B-8DC6-C7CD-FEF7105820F6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>
            <a:extLst>
              <a:ext uri="{FF2B5EF4-FFF2-40B4-BE49-F238E27FC236}">
                <a16:creationId xmlns:a16="http://schemas.microsoft.com/office/drawing/2014/main" id="{9307FA38-2729-E486-1C39-04D004AD46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Desenho de um carro&#10;&#10;O conteúdo gerado por IA pode estar incorreto.">
            <a:extLst>
              <a:ext uri="{FF2B5EF4-FFF2-40B4-BE49-F238E27FC236}">
                <a16:creationId xmlns:a16="http://schemas.microsoft.com/office/drawing/2014/main" id="{D829A145-E81A-DE00-F467-A402D7CEE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50" y="1053848"/>
            <a:ext cx="7104300" cy="426258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137961B-7FD5-B33C-7176-BF32A45DFAFC}"/>
              </a:ext>
            </a:extLst>
          </p:cNvPr>
          <p:cNvSpPr txBox="1"/>
          <p:nvPr/>
        </p:nvSpPr>
        <p:spPr>
          <a:xfrm>
            <a:off x="2200564" y="5510325"/>
            <a:ext cx="4742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pt-BR" sz="1600" dirty="0">
                <a:solidFill>
                  <a:schemeClr val="tx1"/>
                </a:solidFill>
                <a:latin typeface="+mn-lt"/>
              </a:rPr>
              <a:t>A</a:t>
            </a:r>
            <a:r>
              <a:rPr lang="pt-BR" sz="1600" i="0" dirty="0">
                <a:solidFill>
                  <a:schemeClr val="tx1"/>
                </a:solidFill>
                <a:effectLst/>
                <a:latin typeface="+mn-lt"/>
              </a:rPr>
              <a:t>rquitetura “</a:t>
            </a:r>
            <a:r>
              <a:rPr lang="pt-BR" sz="1600" i="0" dirty="0" err="1">
                <a:solidFill>
                  <a:schemeClr val="tx1"/>
                </a:solidFill>
                <a:effectLst/>
                <a:latin typeface="+mn-lt"/>
              </a:rPr>
              <a:t>domain-controlled</a:t>
            </a:r>
            <a:r>
              <a:rPr lang="pt-BR" sz="1600" i="0" dirty="0">
                <a:solidFill>
                  <a:schemeClr val="tx1"/>
                </a:solidFill>
                <a:effectLst/>
                <a:latin typeface="+mn-lt"/>
              </a:rPr>
              <a:t>” central integrada</a:t>
            </a:r>
            <a:r>
              <a:rPr lang="pt-BR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pt-BR" sz="1600" i="0" dirty="0"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83BD27-B76D-36B2-542A-A58302858004}"/>
              </a:ext>
            </a:extLst>
          </p:cNvPr>
          <p:cNvSpPr txBox="1"/>
          <p:nvPr/>
        </p:nvSpPr>
        <p:spPr>
          <a:xfrm>
            <a:off x="7147560" y="6469380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BYD, 2025.</a:t>
            </a:r>
          </a:p>
        </p:txBody>
      </p:sp>
    </p:spTree>
    <p:extLst>
      <p:ext uri="{BB962C8B-B14F-4D97-AF65-F5344CB8AC3E}">
        <p14:creationId xmlns:p14="http://schemas.microsoft.com/office/powerpoint/2010/main" val="259924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5b1de9373_0_22"/>
          <p:cNvSpPr txBox="1"/>
          <p:nvPr/>
        </p:nvSpPr>
        <p:spPr>
          <a:xfrm>
            <a:off x="393550" y="333525"/>
            <a:ext cx="827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Eletrificação dos meios de transporte</a:t>
            </a:r>
            <a:endParaRPr dirty="0"/>
          </a:p>
        </p:txBody>
      </p:sp>
      <p:sp>
        <p:nvSpPr>
          <p:cNvPr id="230" name="Google Shape;230;g2d5b1de9373_0_22"/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g2d5b1de9373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d5b1de9373_0_22"/>
          <p:cNvSpPr txBox="1"/>
          <p:nvPr/>
        </p:nvSpPr>
        <p:spPr>
          <a:xfrm>
            <a:off x="534850" y="1810518"/>
            <a:ext cx="8136900" cy="53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Segundo Gregório e Portugal (2018):</a:t>
            </a:r>
            <a:endParaRPr sz="1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O setor de transportes é responsável por grande parcela das emissões de CO2.</a:t>
            </a:r>
            <a:endParaRPr sz="1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Crescimento urbano e de infraestruturas. 85% da população vive em centros urbanos, e as infraestruturas devem se adaptam a esse crescimento demográfico.</a:t>
            </a:r>
            <a:endParaRPr sz="1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Acordos climáticos. Brasil se comprometeu a reduzir 43% das emissões de gases de efeito estufa até 2030.</a:t>
            </a:r>
            <a:endParaRPr sz="1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pt-BR" sz="16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Brasil é um dos países mais bem favorecidos.</a:t>
            </a:r>
            <a:endParaRPr sz="16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8">
          <a:extLst>
            <a:ext uri="{FF2B5EF4-FFF2-40B4-BE49-F238E27FC236}">
              <a16:creationId xmlns:a16="http://schemas.microsoft.com/office/drawing/2014/main" id="{C7589E7A-D843-E72F-81E3-D81DAA80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5b1de9373_0_22">
            <a:extLst>
              <a:ext uri="{FF2B5EF4-FFF2-40B4-BE49-F238E27FC236}">
                <a16:creationId xmlns:a16="http://schemas.microsoft.com/office/drawing/2014/main" id="{4CAC2FC5-48A4-E3A1-1930-9282BB989811}"/>
              </a:ext>
            </a:extLst>
          </p:cNvPr>
          <p:cNvSpPr txBox="1"/>
          <p:nvPr/>
        </p:nvSpPr>
        <p:spPr>
          <a:xfrm>
            <a:off x="393550" y="333525"/>
            <a:ext cx="8278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O que observamos para o futuro?</a:t>
            </a:r>
            <a:endParaRPr dirty="0"/>
          </a:p>
        </p:txBody>
      </p:sp>
      <p:sp>
        <p:nvSpPr>
          <p:cNvPr id="230" name="Google Shape;230;g2d5b1de9373_0_22">
            <a:extLst>
              <a:ext uri="{FF2B5EF4-FFF2-40B4-BE49-F238E27FC236}">
                <a16:creationId xmlns:a16="http://schemas.microsoft.com/office/drawing/2014/main" id="{F7F4183C-8E4C-5178-AC42-0D8F18EEBF7E}"/>
              </a:ext>
            </a:extLst>
          </p:cNvPr>
          <p:cNvSpPr/>
          <p:nvPr/>
        </p:nvSpPr>
        <p:spPr>
          <a:xfrm rot="10800000" flipH="1">
            <a:off x="-36512" y="476709"/>
            <a:ext cx="323400" cy="360000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g2d5b1de9373_0_22">
            <a:extLst>
              <a:ext uri="{FF2B5EF4-FFF2-40B4-BE49-F238E27FC236}">
                <a16:creationId xmlns:a16="http://schemas.microsoft.com/office/drawing/2014/main" id="{6FD17F9D-792E-8646-A3A4-E4260D85CA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d5b1de9373_0_22">
            <a:extLst>
              <a:ext uri="{FF2B5EF4-FFF2-40B4-BE49-F238E27FC236}">
                <a16:creationId xmlns:a16="http://schemas.microsoft.com/office/drawing/2014/main" id="{7FEDEB3E-11E7-23A5-F97A-E96E7B501AB3}"/>
              </a:ext>
            </a:extLst>
          </p:cNvPr>
          <p:cNvSpPr txBox="1"/>
          <p:nvPr/>
        </p:nvSpPr>
        <p:spPr>
          <a:xfrm>
            <a:off x="1866466" y="665084"/>
            <a:ext cx="6379010" cy="53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just">
              <a:lnSpc>
                <a:spcPct val="150000"/>
              </a:lnSpc>
            </a:pPr>
            <a:endParaRPr lang="pt-BR" dirty="0">
              <a:solidFill>
                <a:schemeClr val="tx1"/>
              </a:solidFill>
              <a:latin typeface="+mj-lt"/>
              <a:ea typeface="Verdana"/>
              <a:sym typeface="Verdana"/>
            </a:endParaRPr>
          </a:p>
          <a:p>
            <a:pPr lvl="2" algn="just">
              <a:lnSpc>
                <a:spcPct val="150000"/>
              </a:lnSpc>
            </a:pPr>
            <a:endParaRPr lang="pt-BR" dirty="0">
              <a:solidFill>
                <a:schemeClr val="tx1"/>
              </a:solidFill>
              <a:latin typeface="+mj-lt"/>
              <a:ea typeface="Verdana"/>
              <a:sym typeface="Verdana"/>
            </a:endParaRPr>
          </a:p>
          <a:p>
            <a:pPr lvl="2"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  <a:latin typeface="+mj-lt"/>
                <a:ea typeface="Verdana"/>
                <a:sym typeface="Verdana"/>
              </a:rPr>
              <a:t>Segundo JAHNS, 2017 [7]. Ao pensar no futuro, e observando as tecnologias desenvolvidas no passado, pode-se notar que a tendência é incluir toda a eletrônica dentro do motor, de forma que o usuário final nem mesmo perceba a existência do IMD.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  <a:latin typeface="+mj-lt"/>
              <a:ea typeface="Verdana"/>
              <a:sym typeface="Verdana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endParaRPr lang="pt-BR" dirty="0">
              <a:solidFill>
                <a:schemeClr val="tx1"/>
              </a:solidFill>
              <a:latin typeface="+mj-lt"/>
              <a:ea typeface="Verdana"/>
              <a:sym typeface="Verdana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BEB4F4-4262-9AF2-42EC-7755C9DFB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96" y="1586840"/>
            <a:ext cx="714980" cy="7149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D850CD7-11C2-0BB5-BE38-3840A5B90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96" y="3071510"/>
            <a:ext cx="714980" cy="71498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783C12A-1F20-9F59-B01B-933509CAF6FE}"/>
              </a:ext>
            </a:extLst>
          </p:cNvPr>
          <p:cNvSpPr txBox="1"/>
          <p:nvPr/>
        </p:nvSpPr>
        <p:spPr>
          <a:xfrm>
            <a:off x="1870904" y="3085966"/>
            <a:ext cx="6379010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chemeClr val="tx1"/>
                </a:solidFill>
                <a:latin typeface="+mj-lt"/>
                <a:ea typeface="Verdana"/>
                <a:sym typeface="Verdana"/>
              </a:rPr>
              <a:t>Mas qual é o ganho disso? Redução de custo: Dos materiais, processo de manufatura e modularização;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659C4E7-4DA3-7630-142F-E4FB684BD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96" y="4366231"/>
            <a:ext cx="714980" cy="71498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F8C81A3-931E-9145-7B76-CFD4D05428AB}"/>
              </a:ext>
            </a:extLst>
          </p:cNvPr>
          <p:cNvSpPr txBox="1"/>
          <p:nvPr/>
        </p:nvSpPr>
        <p:spPr>
          <a:xfrm>
            <a:off x="1866466" y="4229109"/>
            <a:ext cx="4591664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  <a:latin typeface="+mn-lt"/>
                <a:ea typeface="Verdana"/>
                <a:sym typeface="Verdana"/>
              </a:rPr>
              <a:t>Quais são os desafios?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+mn-lt"/>
                <a:ea typeface="Verdana"/>
                <a:sym typeface="Verdana"/>
              </a:rPr>
              <a:t>Máxima temperatura de operação; e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  <a:latin typeface="+mn-lt"/>
                <a:ea typeface="Verdana"/>
                <a:sym typeface="Verdana"/>
              </a:rPr>
              <a:t>Vibração.</a:t>
            </a:r>
          </a:p>
        </p:txBody>
      </p:sp>
    </p:spTree>
    <p:extLst>
      <p:ext uri="{BB962C8B-B14F-4D97-AF65-F5344CB8AC3E}">
        <p14:creationId xmlns:p14="http://schemas.microsoft.com/office/powerpoint/2010/main" val="371044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/>
          <p:nvPr/>
        </p:nvSpPr>
        <p:spPr>
          <a:xfrm>
            <a:off x="393548" y="333523"/>
            <a:ext cx="705877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sym typeface="Verdana"/>
              </a:rPr>
              <a:t>Avaliação de tendências</a:t>
            </a:r>
            <a:endParaRPr dirty="0"/>
          </a:p>
        </p:txBody>
      </p:sp>
      <p:sp>
        <p:nvSpPr>
          <p:cNvPr id="238" name="Google Shape;238;p4"/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"/>
          <p:cNvSpPr txBox="1"/>
          <p:nvPr/>
        </p:nvSpPr>
        <p:spPr>
          <a:xfrm>
            <a:off x="393548" y="1178569"/>
            <a:ext cx="7848900" cy="344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pt-BR" sz="1600" b="1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Se aumentarmos a frequência de chaveamento...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pt-BR" sz="1600" dirty="0">
              <a:solidFill>
                <a:schemeClr val="dk1"/>
              </a:solidFill>
              <a:latin typeface="+mn-lt"/>
              <a:ea typeface="Verdana" panose="020B0604030504040204" pitchFamily="34" charset="0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EMI – Maiores </a:t>
            </a:r>
            <a:r>
              <a:rPr lang="pt-BR" sz="1600" dirty="0" err="1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dv</a:t>
            </a: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/</a:t>
            </a:r>
            <a:r>
              <a:rPr lang="pt-BR" sz="1600" dirty="0" err="1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dt</a:t>
            </a: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 e </a:t>
            </a:r>
            <a:r>
              <a:rPr lang="pt-BR" sz="1600" dirty="0" err="1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di</a:t>
            </a: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/</a:t>
            </a:r>
            <a:r>
              <a:rPr lang="pt-BR" sz="1600" dirty="0" err="1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dt</a:t>
            </a: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;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Diminui o volume do banco de capacitor até certo ponto;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+mn-lt"/>
              <a:ea typeface="Verdana" panose="020B0604030504040204" pitchFamily="34" charset="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Integrando o conversor no motor: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+mn-lt"/>
              <a:ea typeface="Verdana" panose="020B060403050404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Reduz ou elimina os cabos;</a:t>
            </a:r>
            <a:endParaRPr sz="1600" dirty="0">
              <a:latin typeface="+mn-lt"/>
              <a:ea typeface="Verdana" panose="020B060403050404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Sistema de refrigeração diminui ou é pode ser combinado com o do motor;</a:t>
            </a:r>
            <a:endParaRPr sz="1600" dirty="0">
              <a:solidFill>
                <a:schemeClr val="dk1"/>
              </a:solidFill>
              <a:latin typeface="+mn-lt"/>
              <a:ea typeface="Verdana" panose="020B0604030504040204" pitchFamily="34" charset="0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pt-BR" sz="1600" dirty="0">
                <a:solidFill>
                  <a:schemeClr val="dk1"/>
                </a:solidFill>
                <a:latin typeface="+mn-lt"/>
                <a:ea typeface="Verdana" panose="020B0604030504040204" pitchFamily="34" charset="0"/>
                <a:cs typeface="Calibri"/>
                <a:sym typeface="Calibri"/>
              </a:rPr>
              <a:t>Aumenta a tolerância contra falhas.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697" y="4232870"/>
            <a:ext cx="4721160" cy="20189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5A17B9-D911-F957-468C-1547252FC916}"/>
              </a:ext>
            </a:extLst>
          </p:cNvPr>
          <p:cNvSpPr txBox="1"/>
          <p:nvPr/>
        </p:nvSpPr>
        <p:spPr>
          <a:xfrm>
            <a:off x="5624946" y="6417043"/>
            <a:ext cx="1627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</a:t>
            </a:r>
            <a:r>
              <a:rPr lang="pt-BR" sz="1200" dirty="0" err="1"/>
              <a:t>Cuzner</a:t>
            </a:r>
            <a:r>
              <a:rPr lang="pt-BR" sz="1200" dirty="0"/>
              <a:t>, 2015.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9626BEAC-4F5D-8C69-5B57-6737BDAB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F58A63FF-3534-7BED-5E56-1D66B1A61E05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</a:t>
            </a: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8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Inverter</a:t>
            </a:r>
            <a:endParaRPr lang="pt-BR" sz="2800" dirty="0"/>
          </a:p>
        </p:txBody>
      </p:sp>
      <p:sp>
        <p:nvSpPr>
          <p:cNvPr id="308" name="Google Shape;308;p11">
            <a:extLst>
              <a:ext uri="{FF2B5EF4-FFF2-40B4-BE49-F238E27FC236}">
                <a16:creationId xmlns:a16="http://schemas.microsoft.com/office/drawing/2014/main" id="{B774251B-CCFD-3C3A-0221-0A8A992E87B4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1">
            <a:extLst>
              <a:ext uri="{FF2B5EF4-FFF2-40B4-BE49-F238E27FC236}">
                <a16:creationId xmlns:a16="http://schemas.microsoft.com/office/drawing/2014/main" id="{4C6EAE82-DCB9-D1E6-F7BB-4932597B5F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>
            <a:extLst>
              <a:ext uri="{FF2B5EF4-FFF2-40B4-BE49-F238E27FC236}">
                <a16:creationId xmlns:a16="http://schemas.microsoft.com/office/drawing/2014/main" id="{0688B6BE-39AF-59D8-BCEE-A35EE699AFF3}"/>
              </a:ext>
            </a:extLst>
          </p:cNvPr>
          <p:cNvSpPr txBox="1"/>
          <p:nvPr/>
        </p:nvSpPr>
        <p:spPr>
          <a:xfrm>
            <a:off x="4110898" y="980319"/>
            <a:ext cx="78488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154095-A595-A5DB-FF70-3B79AFA10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07" y="1845885"/>
            <a:ext cx="7246986" cy="331290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5BFA7F2-791E-D305-3B27-1E72382A52E5}"/>
              </a:ext>
            </a:extLst>
          </p:cNvPr>
          <p:cNvSpPr txBox="1"/>
          <p:nvPr/>
        </p:nvSpPr>
        <p:spPr>
          <a:xfrm>
            <a:off x="3330695" y="5239528"/>
            <a:ext cx="7083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Fonte: Taha e Narimani, 2021.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87083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14489338-B1B8-DDA7-B4DB-E2D4C962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1D66EB15-7EF2-24C3-155F-C31B96B83C5E}"/>
              </a:ext>
            </a:extLst>
          </p:cNvPr>
          <p:cNvSpPr txBox="1"/>
          <p:nvPr/>
        </p:nvSpPr>
        <p:spPr>
          <a:xfrm>
            <a:off x="393548" y="333523"/>
            <a:ext cx="7058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Operação do CSI7</a:t>
            </a:r>
            <a:endParaRPr lang="pt-BR" sz="2800" dirty="0"/>
          </a:p>
        </p:txBody>
      </p:sp>
      <p:sp>
        <p:nvSpPr>
          <p:cNvPr id="308" name="Google Shape;308;p11">
            <a:extLst>
              <a:ext uri="{FF2B5EF4-FFF2-40B4-BE49-F238E27FC236}">
                <a16:creationId xmlns:a16="http://schemas.microsoft.com/office/drawing/2014/main" id="{1967CD3F-928C-2813-FCC1-B8CFF4B9917D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1">
            <a:extLst>
              <a:ext uri="{FF2B5EF4-FFF2-40B4-BE49-F238E27FC236}">
                <a16:creationId xmlns:a16="http://schemas.microsoft.com/office/drawing/2014/main" id="{99F0D9ED-2420-D290-DF89-320A170504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1">
            <a:extLst>
              <a:ext uri="{FF2B5EF4-FFF2-40B4-BE49-F238E27FC236}">
                <a16:creationId xmlns:a16="http://schemas.microsoft.com/office/drawing/2014/main" id="{B7690EE8-5DBD-307E-C276-6373F331A0CA}"/>
              </a:ext>
            </a:extLst>
          </p:cNvPr>
          <p:cNvSpPr txBox="1"/>
          <p:nvPr/>
        </p:nvSpPr>
        <p:spPr>
          <a:xfrm>
            <a:off x="4110898" y="980319"/>
            <a:ext cx="78488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88ED432-7DA7-6A2F-C8ED-D21F91AE37D3}"/>
              </a:ext>
            </a:extLst>
          </p:cNvPr>
          <p:cNvSpPr txBox="1"/>
          <p:nvPr/>
        </p:nvSpPr>
        <p:spPr>
          <a:xfrm>
            <a:off x="3330695" y="5439040"/>
            <a:ext cx="7083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Fonte: Taha e Narimani, 2021.</a:t>
            </a:r>
            <a:endParaRPr lang="pt-BR" sz="1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40CC359-BB39-AEA3-D9C9-316B215D7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50226"/>
            <a:ext cx="4163408" cy="348488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9BC418-D2D4-D088-E728-13FA70439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548" y="1828799"/>
            <a:ext cx="3838394" cy="340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8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88E759B1-4DE5-FA76-9306-6DD23E25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522992F4-7342-6177-F730-CB5B31A9FF12}"/>
              </a:ext>
            </a:extLst>
          </p:cNvPr>
          <p:cNvSpPr txBox="1"/>
          <p:nvPr/>
        </p:nvSpPr>
        <p:spPr>
          <a:xfrm>
            <a:off x="393548" y="333523"/>
            <a:ext cx="805040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</a:t>
            </a: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pt-BR" sz="2800" b="1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Inverter – Motor drive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0BF64BEC-4AF2-A14B-9D34-233BD4C9AF07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102AAAEA-2941-5A0A-F001-96422FFEE2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>
            <a:extLst>
              <a:ext uri="{FF2B5EF4-FFF2-40B4-BE49-F238E27FC236}">
                <a16:creationId xmlns:a16="http://schemas.microsoft.com/office/drawing/2014/main" id="{FD80E758-8FB2-3DAE-F51F-945882292FED}"/>
              </a:ext>
            </a:extLst>
          </p:cNvPr>
          <p:cNvSpPr txBox="1"/>
          <p:nvPr/>
        </p:nvSpPr>
        <p:spPr>
          <a:xfrm>
            <a:off x="700050" y="1002228"/>
            <a:ext cx="84439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pt-BR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2B21960F-BFFF-73C6-AA3C-7CBC3AB52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18" y="2624052"/>
            <a:ext cx="4418642" cy="286598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F9271C9-D199-4A1B-1BBA-942C4175AB5B}"/>
              </a:ext>
            </a:extLst>
          </p:cNvPr>
          <p:cNvSpPr txBox="1"/>
          <p:nvPr/>
        </p:nvSpPr>
        <p:spPr>
          <a:xfrm>
            <a:off x="5430010" y="2361970"/>
            <a:ext cx="1846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50"/>
                </a:solidFill>
              </a:rPr>
              <a:t>4,5 kW/L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7566F3D-3A13-BD51-7898-75DFD262DCD2}"/>
                  </a:ext>
                </a:extLst>
              </p:cNvPr>
              <p:cNvSpPr txBox="1"/>
              <p:nvPr/>
            </p:nvSpPr>
            <p:spPr>
              <a:xfrm>
                <a:off x="700050" y="3833034"/>
                <a:ext cx="4538937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b="0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=7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b="0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𝑘𝐻𝑧</m:t>
                    </m:r>
                  </m:oMath>
                </a14:m>
                <a:endParaRPr lang="pt-B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=200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pt-BR" b="0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=500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pt-B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=98,8 % @ 3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𝑘𝑊</m:t>
                    </m:r>
                  </m:oMath>
                </a14:m>
                <a:endParaRPr lang="pt-BR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=97,9 % @ 1,5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𝑘𝑊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F7566F3D-3A13-BD51-7898-75DFD262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50" y="3833034"/>
                <a:ext cx="4538937" cy="1600438"/>
              </a:xfrm>
              <a:prstGeom prst="rect">
                <a:avLst/>
              </a:prstGeom>
              <a:blipFill>
                <a:blip r:embed="rId5"/>
                <a:stretch>
                  <a:fillRect l="-269" b="-22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m 13">
            <a:extLst>
              <a:ext uri="{FF2B5EF4-FFF2-40B4-BE49-F238E27FC236}">
                <a16:creationId xmlns:a16="http://schemas.microsoft.com/office/drawing/2014/main" id="{28E65356-8D84-D786-CD3D-C4C85BC46C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067" t="11337" r="4027" b="3061"/>
          <a:stretch>
            <a:fillRect/>
          </a:stretch>
        </p:blipFill>
        <p:spPr>
          <a:xfrm>
            <a:off x="7937660" y="4769628"/>
            <a:ext cx="751576" cy="144082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9225BA87-E2A8-DF53-9B60-B8560D96C060}"/>
              </a:ext>
            </a:extLst>
          </p:cNvPr>
          <p:cNvSpPr txBox="1"/>
          <p:nvPr/>
        </p:nvSpPr>
        <p:spPr>
          <a:xfrm>
            <a:off x="536331" y="1248508"/>
            <a:ext cx="7236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Protótipo desenvolvido por uma universidade na Áustria para validar o desenvolvimento de um CSI para acionamento de motores.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2DA746E-181F-02E3-0D72-DCCF18CF4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703" y="2370281"/>
            <a:ext cx="1331274" cy="9744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17D51A3-ECE9-7930-FEE7-C6A1A489F21F}"/>
                  </a:ext>
                </a:extLst>
              </p:cNvPr>
              <p:cNvSpPr txBox="1"/>
              <p:nvPr/>
            </p:nvSpPr>
            <p:spPr>
              <a:xfrm>
                <a:off x="1867605" y="2669747"/>
                <a:ext cx="24810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650 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;72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;69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𝑇𝑂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263  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517D51A3-ECE9-7930-FEE7-C6A1A489F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605" y="2669747"/>
                <a:ext cx="248107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aixaDeTexto 20">
            <a:extLst>
              <a:ext uri="{FF2B5EF4-FFF2-40B4-BE49-F238E27FC236}">
                <a16:creationId xmlns:a16="http://schemas.microsoft.com/office/drawing/2014/main" id="{FE4CA3C3-C3B7-B1DC-4FA4-7EF684AFC67E}"/>
              </a:ext>
            </a:extLst>
          </p:cNvPr>
          <p:cNvSpPr txBox="1"/>
          <p:nvPr/>
        </p:nvSpPr>
        <p:spPr>
          <a:xfrm>
            <a:off x="573963" y="2009644"/>
            <a:ext cx="4590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IMBG65R072M1H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FB1F435-6385-7CC4-A3B3-A9E8B9D3A67F}"/>
              </a:ext>
            </a:extLst>
          </p:cNvPr>
          <p:cNvSpPr txBox="1"/>
          <p:nvPr/>
        </p:nvSpPr>
        <p:spPr>
          <a:xfrm>
            <a:off x="4729018" y="6068291"/>
            <a:ext cx="2739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Riegler e Hartman, 2025.</a:t>
            </a:r>
          </a:p>
        </p:txBody>
      </p:sp>
    </p:spTree>
    <p:extLst>
      <p:ext uri="{BB962C8B-B14F-4D97-AF65-F5344CB8AC3E}">
        <p14:creationId xmlns:p14="http://schemas.microsoft.com/office/powerpoint/2010/main" val="333208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C4572FE1-469D-C1D2-F6AA-207E1574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AF18EA32-947C-E38E-45AC-5B845D0A8024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 x BD 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7AE97071-41A9-EAF2-6141-036CD5ADC324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93528807-5CC7-5890-F76B-C4AB175B68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>
            <a:extLst>
              <a:ext uri="{FF2B5EF4-FFF2-40B4-BE49-F238E27FC236}">
                <a16:creationId xmlns:a16="http://schemas.microsoft.com/office/drawing/2014/main" id="{F8D579FC-885C-E5C3-044D-13D4876C8596}"/>
              </a:ext>
            </a:extLst>
          </p:cNvPr>
          <p:cNvSpPr txBox="1"/>
          <p:nvPr/>
        </p:nvSpPr>
        <p:spPr>
          <a:xfrm>
            <a:off x="700050" y="1002228"/>
            <a:ext cx="84439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1600" dirty="0"/>
              <a:t>Protótipo desenvolvido no WEMPEC EUA para fins de comparação de transistores.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3F8E1B4E-883E-DC43-6D41-F6A0BFE21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678" y="3429000"/>
            <a:ext cx="3307078" cy="27085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7265F0F-7ADB-7929-336B-37E0354D8B58}"/>
                  </a:ext>
                </a:extLst>
              </p:cNvPr>
              <p:cNvSpPr txBox="1"/>
              <p:nvPr/>
            </p:nvSpPr>
            <p:spPr>
              <a:xfrm>
                <a:off x="518161" y="1866298"/>
                <a:ext cx="3962942" cy="13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pt-BR" dirty="0"/>
                  <a:t>A topologia mais promissora é a H7-CSI-BD usando </a:t>
                </a:r>
                <a:r>
                  <a:rPr lang="pt-BR" dirty="0" err="1"/>
                  <a:t>GaN-HEMT</a:t>
                </a:r>
                <a:r>
                  <a:rPr lang="pt-BR" dirty="0"/>
                  <a:t>, pois possui a maior eficiência.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=50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𝑘𝐻𝑧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7265F0F-7ADB-7929-336B-37E0354D8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1" y="1866298"/>
                <a:ext cx="3962942" cy="1345048"/>
              </a:xfrm>
              <a:prstGeom prst="rect">
                <a:avLst/>
              </a:prstGeom>
              <a:blipFill>
                <a:blip r:embed="rId5"/>
                <a:stretch>
                  <a:fillRect l="-154" r="-1077" b="-27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7E8DF7B6-D8EA-C87A-85EA-4EBBD5F7F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58" y="3446680"/>
            <a:ext cx="3233128" cy="2409092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22BDC03-C91C-FA15-B474-FF0EB8EAC716}"/>
              </a:ext>
            </a:extLst>
          </p:cNvPr>
          <p:cNvSpPr txBox="1"/>
          <p:nvPr/>
        </p:nvSpPr>
        <p:spPr>
          <a:xfrm>
            <a:off x="4662898" y="1893506"/>
            <a:ext cx="4100102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C3M0065090J – </a:t>
            </a:r>
            <a:r>
              <a:rPr lang="pt-BR" dirty="0" err="1"/>
              <a:t>SiC</a:t>
            </a:r>
            <a:r>
              <a:rPr lang="pt-BR" dirty="0"/>
              <a:t> MOSFET (</a:t>
            </a:r>
            <a:r>
              <a:rPr lang="pt-BR" dirty="0" err="1"/>
              <a:t>Wolfspeed</a:t>
            </a:r>
            <a:r>
              <a:rPr lang="pt-BR" dirty="0"/>
              <a:t>)</a:t>
            </a:r>
            <a:endParaRPr lang="pt-BR" b="0" i="1" dirty="0">
              <a:latin typeface="Cambria Math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GS66508T – </a:t>
            </a:r>
            <a:r>
              <a:rPr lang="pt-BR" dirty="0" err="1"/>
              <a:t>GaN-HEMT</a:t>
            </a:r>
            <a:r>
              <a:rPr lang="pt-BR" dirty="0"/>
              <a:t> 30 A (</a:t>
            </a:r>
            <a:r>
              <a:rPr lang="pt-BR" dirty="0" err="1"/>
              <a:t>Infineon</a:t>
            </a:r>
            <a:r>
              <a:rPr lang="pt-BR" dirty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dirty="0"/>
              <a:t>GS66516T – </a:t>
            </a:r>
            <a:r>
              <a:rPr lang="pt-BR" dirty="0" err="1"/>
              <a:t>GaN-HEMT</a:t>
            </a:r>
            <a:r>
              <a:rPr lang="pt-BR" dirty="0"/>
              <a:t> 60 A (</a:t>
            </a:r>
            <a:r>
              <a:rPr lang="pt-BR" dirty="0" err="1"/>
              <a:t>Infineon</a:t>
            </a:r>
            <a:r>
              <a:rPr lang="pt-BR" dirty="0"/>
              <a:t>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4A31C57-2E1E-ECBF-FA4A-D4CC94F726B2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</p:spTree>
    <p:extLst>
      <p:ext uri="{BB962C8B-B14F-4D97-AF65-F5344CB8AC3E}">
        <p14:creationId xmlns:p14="http://schemas.microsoft.com/office/powerpoint/2010/main" val="2054132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"/>
          <p:cNvSpPr txBox="1"/>
          <p:nvPr/>
        </p:nvSpPr>
        <p:spPr>
          <a:xfrm>
            <a:off x="393549" y="979854"/>
            <a:ext cx="8255151" cy="618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1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.Works Cited 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LV Titanium Variable Speed Motors 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- Ultra-Efficient, Plug-And-Play Motor Solutions | ABB.” Motors and Generators, July 2025, new.abb.com/motors-generators/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iec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-low-voltage-motors/lv-titanium. Accessed 30 June 2025.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2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IEA (2011), 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Walking the Torque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 IEA, Paris https://www.iea.org/reports/walking-the-torque,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Licence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: CC BY 4.0.</a:t>
            </a:r>
          </a:p>
          <a:p>
            <a:pPr lvl="0" algn="just">
              <a:lnSpc>
                <a:spcPct val="150000"/>
              </a:lnSpc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3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IEA (2025), 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Global EV Outlook 2025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 IEA, Paris https://www.iea.org/reports/global-ev-outlook-2025.</a:t>
            </a:r>
          </a:p>
          <a:p>
            <a:pPr lvl="0" algn="just">
              <a:lnSpc>
                <a:spcPct val="150000"/>
              </a:lnSpc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4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BYD. 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E-Plataforma 3.0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2025.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5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</a:t>
            </a:r>
            <a:r>
              <a:rPr lang="pt-BR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Santos, Ulisses &amp; Fonseca, Ricardo &amp; Frota, Lídia &amp; </a:t>
            </a:r>
            <a:r>
              <a:rPr lang="pt-BR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Tassigny</a:t>
            </a:r>
            <a:r>
              <a:rPr lang="pt-BR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 Mônica. (2019). </a:t>
            </a:r>
            <a:r>
              <a:rPr lang="pt-BR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O desenvolvimento da eletrificação dos transportes e a transformação da mobilidade urbana das cidades como instrumentos para efetivação do estado de direito ambiental.</a:t>
            </a:r>
            <a:r>
              <a:rPr lang="pt-BR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 Revista </a:t>
            </a:r>
            <a:r>
              <a:rPr lang="pt-BR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Videre</a:t>
            </a:r>
            <a:r>
              <a:rPr lang="pt-BR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pt-BR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6</a:t>
            </a:r>
            <a:r>
              <a:rPr lang="pt-BR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 T. M. Jahns and H. Dai, "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The past, present, and future of power electronics integration technology in motor drives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," in CPSS Transactions on Power Electronics and Applications, vol. 2, no. 3, pp. 197-216, Sept. 2017.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7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R. Cuzner, D. Drews and G. Venkataramanan, "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Power Density and Efficiency Comparisons of System-Compatible Drive Topologies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," in IEEE Transactions on Industry Applications, vol. 51, no. 1, pp. 459-469, Jan.-Feb. 2015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8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W. Taha and M. Narimani, "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A Modified Current Source Inverter Fed Drive for Electric Vehicle Applications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," 2021 IEEE Applied Power Electronics Conference and Exposition (APEC), Phoenix, AZ, USA, 2021, pp. 822-828</a:t>
            </a:r>
          </a:p>
          <a:p>
            <a:pPr lvl="0" algn="just">
              <a:lnSpc>
                <a:spcPct val="150000"/>
              </a:lnSpc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sym typeface="Verdana"/>
              </a:rPr>
              <a:t>9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sym typeface="Verdana"/>
              </a:rPr>
              <a:t>. </a:t>
            </a:r>
            <a:r>
              <a:rPr lang="en-US" sz="1200" dirty="0"/>
              <a:t>Riegler, B.; Hartmann, M. </a:t>
            </a:r>
            <a:r>
              <a:rPr lang="en-US" sz="1200" b="1" dirty="0"/>
              <a:t>Design and Implementation of 3 kW All-</a:t>
            </a:r>
            <a:r>
              <a:rPr lang="en-US" sz="1200" b="1" dirty="0" err="1"/>
              <a:t>SiC</a:t>
            </a:r>
            <a:r>
              <a:rPr lang="en-US" sz="1200" b="1" dirty="0"/>
              <a:t> Current Source Inverter</a:t>
            </a:r>
            <a:r>
              <a:rPr lang="en-US" sz="1200" dirty="0"/>
              <a:t>. Electronics 2025, 14, 522. https://doi.org/10.3390/ electronics14030522</a:t>
            </a:r>
            <a:endParaRPr lang="en-US" sz="1200" dirty="0">
              <a:solidFill>
                <a:schemeClr val="dk1"/>
              </a:solidFill>
              <a:latin typeface="+mj-lt"/>
              <a:ea typeface="Verdana"/>
              <a:cs typeface="Verdana"/>
              <a:sym typeface="Verdana"/>
            </a:endParaRPr>
          </a:p>
          <a:p>
            <a:pPr lvl="0" algn="just">
              <a:lnSpc>
                <a:spcPct val="150000"/>
              </a:lnSpc>
              <a:buClr>
                <a:srgbClr val="149B55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10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.Dai, Hang &amp; Amorim Torres, Renato &amp; Lee,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Woongkul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 &amp; Jahns, Thomas &amp;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Sarlioglu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, Bulent. (2020). 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Integrated Motor Drive using Soft-Switching Current-Source Inverters with </a:t>
            </a:r>
            <a:r>
              <a:rPr lang="en-US" sz="1200" b="1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SiC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- and </a:t>
            </a:r>
            <a:r>
              <a:rPr lang="en-US" sz="1200" b="1" dirty="0" err="1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GaN</a:t>
            </a:r>
            <a:r>
              <a:rPr lang="en-US" sz="1200" b="1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-based Bidirectional Switches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Verdana"/>
                <a:cs typeface="Verdana"/>
                <a:sym typeface="Verdana"/>
              </a:rPr>
              <a:t>. 2372-2378. 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49B55"/>
              </a:buClr>
              <a:buSzPts val="1100"/>
            </a:pPr>
            <a:endParaRPr sz="1200" dirty="0">
              <a:solidFill>
                <a:schemeClr val="dk1"/>
              </a:solidFill>
              <a:latin typeface="+mj-lt"/>
              <a:ea typeface="Verdana"/>
              <a:cs typeface="Verdana"/>
              <a:sym typeface="Verdana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393549" y="333523"/>
            <a:ext cx="61926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Referências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8165E69C-18E1-4271-7D88-0E337923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8C07638B-0D30-B555-13FB-E9D7CA761D3C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 x BD 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F5ECBF6F-633B-78BD-32FF-047AC58966A5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D3D82B74-F219-7629-3F74-D801DAC05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4B4E960-0B41-A0BA-7A99-AEAB34C88C46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67008A-8B3C-0DAA-A774-B6E5DFDC8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04" y="2449324"/>
            <a:ext cx="3498574" cy="233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09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F4948611-E6BB-3A8C-24DC-E304E3CAB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805395E2-A1D2-BC91-48E9-B0F5D02F19B5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72C7BBC9-2C0C-F58B-5582-2F2458BF6BBC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0A326A5B-61ED-AD60-D5C1-A09EADD78A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747E66-7DB5-6F72-F052-2DD11ACE3E34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7CBEA0-319E-D530-0BB7-108CF76B7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54" y="2227819"/>
            <a:ext cx="4234074" cy="278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6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AB822FF6-2A6F-92B4-8976-3CD706E3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A8E5B9D4-3F9F-969C-66D5-CC68285D438F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89E2B5DC-6002-C151-CEA7-6D0FB169F32F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AA087386-9F87-ADBE-2E60-CDFE374F22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60C60BF2-C217-E3C5-45A1-4A486ACA1958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A09BD7-49C8-9013-AF72-9FD204A28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796" y="2208716"/>
            <a:ext cx="3947278" cy="280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56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8BA64E25-00EC-BAD1-555A-A56E5E79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98B1C4B4-BE9D-4903-D381-5CEAEBDB824C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C4A9C9ED-5BF1-0054-2F00-B35C704655BD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65EE058A-FDD1-57B5-613E-582688DD18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6B31A42-FBB3-9629-1451-C4182E758010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D3BE37-2DDC-15EB-FC27-C7956E1EE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15" y="2668809"/>
            <a:ext cx="8687553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6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489B5865-C225-9DB7-5D1E-9866F6BB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9005918A-156A-3E22-9837-B1A63F879BDB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38904A3B-EDD9-A196-05F1-43F6DBDF9CBD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8E278D43-5E32-195F-02AB-5744E94615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DE72E9B-6791-61C4-317E-C8E3CCA6F15F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965A4A5-4667-4BAD-A732-EB7B79E4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15" y="1718750"/>
            <a:ext cx="3979736" cy="28566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0B989D7-624A-A15E-0782-FA344D14D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562" y="1718750"/>
            <a:ext cx="4017156" cy="294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3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471A83CA-9E37-0109-A65D-55DC1B53F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6E6349A5-B03B-BC3D-F245-2634AAAD9712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33188351-3BBD-8EFC-E4E3-F781A25A9B8D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584869C6-846F-67BE-9F7A-03F37D23DB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1D4F069-4BAE-1B15-B701-B9295F700CC8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71FC58-2889-FD0E-0F9E-AF4A65AB4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634" y="2163962"/>
            <a:ext cx="6835732" cy="27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53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B9E2E058-7976-FCC6-237E-AA1E6971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304987E8-864F-2528-5C04-A196111EB020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05561834-1F2B-FC28-BCC0-4699B2D6A204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C0474EBF-D938-2A38-94F1-20447CC4D2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724642E-4DA7-B0D1-C201-F15BA8E48633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</p:spTree>
    <p:extLst>
      <p:ext uri="{BB962C8B-B14F-4D97-AF65-F5344CB8AC3E}">
        <p14:creationId xmlns:p14="http://schemas.microsoft.com/office/powerpoint/2010/main" val="4108911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>
          <a:extLst>
            <a:ext uri="{FF2B5EF4-FFF2-40B4-BE49-F238E27FC236}">
              <a16:creationId xmlns:a16="http://schemas.microsoft.com/office/drawing/2014/main" id="{27EB9E2B-2452-E156-FADE-3199DD41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>
            <a:extLst>
              <a:ext uri="{FF2B5EF4-FFF2-40B4-BE49-F238E27FC236}">
                <a16:creationId xmlns:a16="http://schemas.microsoft.com/office/drawing/2014/main" id="{9EC0AF30-2AC3-DF90-D7DB-609D7F215105}"/>
              </a:ext>
            </a:extLst>
          </p:cNvPr>
          <p:cNvSpPr txBox="1"/>
          <p:nvPr/>
        </p:nvSpPr>
        <p:spPr>
          <a:xfrm>
            <a:off x="393548" y="333523"/>
            <a:ext cx="750365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CSI – Comparação RB</a:t>
            </a:r>
            <a:endParaRPr dirty="0"/>
          </a:p>
        </p:txBody>
      </p:sp>
      <p:sp>
        <p:nvSpPr>
          <p:cNvPr id="277" name="Google Shape;277;p8">
            <a:extLst>
              <a:ext uri="{FF2B5EF4-FFF2-40B4-BE49-F238E27FC236}">
                <a16:creationId xmlns:a16="http://schemas.microsoft.com/office/drawing/2014/main" id="{B35D8192-ABE3-FD0F-5E42-E43ED1583DFD}"/>
              </a:ext>
            </a:extLst>
          </p:cNvPr>
          <p:cNvSpPr/>
          <p:nvPr/>
        </p:nvSpPr>
        <p:spPr>
          <a:xfrm rot="10800000" flipH="1">
            <a:off x="-36512" y="476670"/>
            <a:ext cx="323528" cy="360039"/>
          </a:xfrm>
          <a:prstGeom prst="rect">
            <a:avLst/>
          </a:prstGeom>
          <a:solidFill>
            <a:srgbClr val="149B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8">
            <a:extLst>
              <a:ext uri="{FF2B5EF4-FFF2-40B4-BE49-F238E27FC236}">
                <a16:creationId xmlns:a16="http://schemas.microsoft.com/office/drawing/2014/main" id="{0BBEC86E-4D29-6713-BC2E-F6E7C5AA8D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8C342D6F-7F57-12E0-524F-245CFB40FB85}"/>
              </a:ext>
            </a:extLst>
          </p:cNvPr>
          <p:cNvSpPr txBox="1"/>
          <p:nvPr/>
        </p:nvSpPr>
        <p:spPr>
          <a:xfrm>
            <a:off x="5488835" y="6365315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Fonte: Dai </a:t>
            </a:r>
            <a:r>
              <a:rPr lang="pt-BR" sz="1200" i="1" dirty="0"/>
              <a:t>et al, </a:t>
            </a:r>
            <a:r>
              <a:rPr lang="pt-BR" sz="1200" dirty="0"/>
              <a:t>2020.</a:t>
            </a:r>
          </a:p>
        </p:txBody>
      </p:sp>
    </p:spTree>
    <p:extLst>
      <p:ext uri="{BB962C8B-B14F-4D97-AF65-F5344CB8AC3E}">
        <p14:creationId xmlns:p14="http://schemas.microsoft.com/office/powerpoint/2010/main" val="2116537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015" y="6381328"/>
            <a:ext cx="1672379" cy="29176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4857368" y="2475012"/>
            <a:ext cx="619268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Obrigado</a:t>
            </a:r>
            <a:endParaRPr dirty="0"/>
          </a:p>
        </p:txBody>
      </p:sp>
      <p:pic>
        <p:nvPicPr>
          <p:cNvPr id="482" name="Google Shape;482;p27"/>
          <p:cNvPicPr preferRelativeResize="0"/>
          <p:nvPr/>
        </p:nvPicPr>
        <p:blipFill rotWithShape="1">
          <a:blip r:embed="rId4">
            <a:alphaModFix/>
          </a:blip>
          <a:srcRect t="23653"/>
          <a:stretch/>
        </p:blipFill>
        <p:spPr>
          <a:xfrm rot="10800000" flipH="1">
            <a:off x="-396552" y="188640"/>
            <a:ext cx="4449092" cy="669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16761</TotalTime>
  <Words>1373</Words>
  <Application>Microsoft Office PowerPoint</Application>
  <PresentationFormat>Apresentação na tela (4:3)</PresentationFormat>
  <Paragraphs>124</Paragraphs>
  <Slides>24</Slides>
  <Notes>24</Notes>
  <HiddenSlides>2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Verdana</vt:lpstr>
      <vt:lpstr>Graphik</vt:lpstr>
      <vt:lpstr>Wingdings</vt:lpstr>
      <vt:lpstr>Roboto</vt:lpstr>
      <vt:lpstr>Arial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Gabriela Colebrusco Peres</dc:creator>
  <cp:lastModifiedBy>EMERSON ANDREY DA CONCEICAO</cp:lastModifiedBy>
  <cp:revision>106</cp:revision>
  <dcterms:created xsi:type="dcterms:W3CDTF">2016-08-30T17:34:40Z</dcterms:created>
  <dcterms:modified xsi:type="dcterms:W3CDTF">2025-11-03T23:09:00Z</dcterms:modified>
</cp:coreProperties>
</file>